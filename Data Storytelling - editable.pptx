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6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4507E"/>
                </a:solidFill>
                <a:latin typeface="Segoe UI"/>
              </a:rPr>
              <a:t>Deck de repaso · Edición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D2638"/>
                </a:solidFill>
                <a:latin typeface="Segoe UI"/>
              </a:rPr>
              <a:t>Data Storytelling</a:t>
            </a:r>
          </a:p>
          <a:p>
            <a:r>
              <a:rPr sz="4000" b="1" i="0">
                <a:solidFill>
                  <a:srgbClr val="1D2638"/>
                </a:solidFill>
                <a:latin typeface="Segoe UI"/>
              </a:rPr>
              <a:t>y </a:t>
            </a:r>
            <a:r>
              <a:rPr sz="4000" b="1" i="0">
                <a:solidFill>
                  <a:srgbClr val="1D2638"/>
                </a:solidFill>
                <a:latin typeface="Segoe UI"/>
              </a:rPr>
              <a:t>diseño de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586071"/>
                </a:solidFill>
                <a:latin typeface="Segoe UI"/>
              </a:rPr>
              <a:t>Lo esencial para tener claro antes de arrancar cualquier proyecto: cómo piensa el cerebro, cómo se dirige la mirada y cómo se convierte un dato en una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>
                <a:solidFill>
                  <a:srgbClr val="1D2638"/>
                </a:solidFill>
                <a:latin typeface="Segoe UI"/>
              </a:rPr>
              <a:t>Borja Mora Méndez</a:t>
            </a:r>
          </a:p>
          <a:p>
            <a:r>
              <a:rPr sz="1300">
                <a:solidFill>
                  <a:srgbClr val="586071"/>
                </a:solidFill>
                <a:latin typeface="Segoe UI"/>
              </a:rPr>
              <a:t>Data Analyst · Power BI &amp; Data Storytelling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4507E"/>
                </a:solidFill>
                <a:latin typeface="Segoe UI"/>
              </a:rPr>
              <a:t>Cómo usar este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Cuatro señales, en cada slide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44168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Tu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5000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Tu conocimiento recopilado, ordenado. Sin quitar ninguna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10128"/>
            <a:ext cx="5478627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Cómo aterrizar el concepto en la herramienta.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1344168"/>
            <a:ext cx="5478627" cy="8229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Respaldo de las fuentes de referencia del campo.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2258568"/>
            <a:ext cx="2647873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✕ Evita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Lo que resta.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0900" y="2258568"/>
            <a:ext cx="2647873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✓ Haz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La alternativa que suma.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86071"/>
                </a:solidFill>
                <a:latin typeface="Segoe UI"/>
              </a:rPr>
              <a:t>Navega con ← → · Pulsa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I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para el índice y saltar a cualquier bloque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4507E"/>
                </a:solidFill>
                <a:latin typeface="Segoe UI"/>
              </a:rPr>
              <a:t>Mapa del recorrido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Los 10 bloques, de un vistazo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De preparar el mensaje a contar la historia. Cada bloque alimenta al siguiente: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contexto → percepción → diseño → narrativa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12848"/>
          <a:ext cx="111858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00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Fundamentos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Por qué comunicar con datos</a:t>
                      </a:r>
                    </a:p>
                  </a:txBody>
                  <a:tcPr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01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Entender el contexto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Audiencia, qué y gran idea</a:t>
                      </a:r>
                    </a:p>
                  </a:txBody>
                  <a:tcPr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02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Cómo percibe el cerebro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Memoria, preatentivos, Gestalt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03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Reducir el ruido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Carga cognitiva, data-ink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04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Dirigir la atención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Contraste, color, jerarquía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05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Elegir el visual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El gráfico correcto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06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Componer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Layout, grid, espacio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07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El texto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Títulos y anotaciones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08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Construir la historia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Los tres actos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09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Juntar las piezas</a:t>
                      </a:r>
                    </a:p>
                    <a:p>
                      <a:r>
                        <a:rPr sz="900">
                          <a:solidFill>
                            <a:srgbClr val="586071"/>
                          </a:solidFill>
                          <a:latin typeface="Segoe UI"/>
                        </a:rPr>
                        <a:t>El proceso completo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24528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86071"/>
                </a:solidFill>
                <a:latin typeface="Segoe UI"/>
              </a:rPr>
              <a:t>Pulsa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I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para saltar a cualquier bloque.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Por qué comunicar con datos es un problema de significado, no de decoración.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2920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Qué es Data Storytelling (y qué no 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586071"/>
                </a:solidFill>
                <a:latin typeface="Segoe UI"/>
              </a:rPr>
              <a:t>Es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la disciplina de convertir datos en una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narrativa que impulsa una decisión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: dar significado y dirección a los números.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No es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decorar gráficos ni acumular métricas.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✕ No es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Muchos datos, muchos bullets, muchos gráficos. El lector recibe información pero no sabe qué hacer con ella.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✓ Sí es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Idea + emoción. Una tensión que importa y un alivio que propone el análisis. Persuasión que se recuerda.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Los humanos no deciden por datos: deciden por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tensión y alivio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Los tres pilares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Pilar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Propósito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Componentes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Evidencia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Números, tendencias, comparativas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Narrativa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Significado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Contexto, causalidad, implicaciones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Visuales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Claridad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Gráficos, diagramas, elementos destacados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15468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Si falta uno, la pieza cojea. Deben estar los tres.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La referencia de negocio: Dykes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Los tres pilares de la página anterior no son una síntesis libre: es la misma definición que usa la literatura de BI para separar el storytelling de datos de un simple informe.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1185855" cy="19202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＋ Ampliación · Brent Dykes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En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Effective Data Storytelling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(Wiley, 2019), Dykes define el storytelling de datos exactamente como la intersección de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datos + narrativa + visualización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: si falta cualquiera, el resultado es un informe plano, una fábula sin base o una visualización sin foco. Es la referencia más orientada a negocio de esta lista — su checklist de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narrative flow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se aplica directamente al storyboard de un dashboard ejecutivo en Power BI.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Del mensaje exploratorio al explicativo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Un análisis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exploratorio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es para ti: ves qué pasa, nada se destaca, buscas patrones entre muchas variables. Un producto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explicativo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es para tu audiencia: cuentas una historia, destacas lo relevante y diriges la mirada hacia una conclusión concreta.</a:t>
            </a:r>
          </a:p>
        </p:txBody>
      </p:sp>
      <p:pic>
        <p:nvPicPr>
          <p:cNvPr id="5" name="Picture 4" descr="slide008_cap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3" y="1920240"/>
            <a:ext cx="10941449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El mismo dato, dos intenciones.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Explicar es decidir qué callar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para que una cosa se oiga.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Portada explicativa (KPI + un visual protagonista + titular que orienta). Detalle y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drill-through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exploratorios. No los mezcles en la misma vista.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Entender el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El trabajo empieza antes de abrir la herramienta. Sin contexto, cualquier gráfico responde a una pregunta que nadie hizo.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2920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¿Quién? ¿Qué? ¿Cómo? — la conversación entre audiencia, gráfico y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478627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¿Quién?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La audiencia (o tú, cuando aún exploras).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¿Qué?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Qué necesitas que sepa o haga. Y sugerir los siguientes pasos.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¿Cómo?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Con qué datos concretos lo vas a demostrar. Sin esta respuesta, el «qué» es una opinión sin evidencia.</a:t>
            </a:r>
          </a:p>
        </p:txBody>
      </p:sp>
      <p:pic>
        <p:nvPicPr>
          <p:cNvPr id="5" name="Picture 4" descr="slide010_cap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47" y="1051560"/>
            <a:ext cx="5478626" cy="32351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0147" y="4332433"/>
            <a:ext cx="54786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Si el gráfico no lleva a una acción,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sobra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Consultoría para el contexto · qué preguntar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Casi nunca tienes todo el contexto de partida. Cuando el encargo viene de un cliente, jefe o stakeholder, estas preguntas lo sacan a la luz.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¿Qué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antecedentes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son relevantes o esenciales?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¿Quién es la audiencia o quien decide? ¿Qué sabemos de ella?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¿Qué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sesgos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tiene esa audiencia — a favor o en contra del mensaje?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¿Qué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datos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disponibles fortalecen el caso? ¿Le son familiares o son nuevos?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¿Dónde están los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riesgos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qué podría debilitar el caso?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¿Cómo se vería un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resultado exitoso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014216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Knaflic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La última pregunta suele ser la más reveladora: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si solo tuvieras una frase para decir a tu audiencia lo que necesita saber, ¿cuál sería?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Esa restricción obliga a condensar todo el encargo en el mensaje que de verdad importa.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La gran idea y la historia en 3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gran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Un punto de vista único, en una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oración completa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—sujeto, verbo y postura—. Tu tesis, no un título vago.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18872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historia en 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Si tuvieras 3 minutos sin pantalla, ¿qué dirías? Lo que sobreviva a esa versión hablada es tu narrativa.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Knaflic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Big Idea, 3-Minute Story y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Storyboard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(esbozar con post-its antes de tocar el software) son tres herramientas de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Storytelling with Data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 Si no puedes contarlo sin apoyo visual, aún no lo tienes claro.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Diccionario · palabras por tipo de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Títulos de análisis</a:t>
            </a:r>
            <a:r>
              <a:rPr sz="1050">
                <a:solidFill>
                  <a:srgbClr val="586071"/>
                </a:solidFill>
                <a:latin typeface="Segoe UI"/>
              </a:rPr>
              <a:t>  — describen lo que el gráfico permite hacer al 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35608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analizar   ·   evaluar   ·   identificar   ·   comparar   ·   entender   ·   revisar   ·   detectar   ·   mostrar   ·   evidenciar   ·   revelar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Títulos de acción</a:t>
            </a:r>
            <a:r>
              <a:rPr sz="1050">
                <a:solidFill>
                  <a:srgbClr val="586071"/>
                </a:solidFill>
                <a:latin typeface="Segoe UI"/>
              </a:rPr>
              <a:t>  — empujan hacia una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priorizar   ·   ajustar   ·   optimizar   ·   reducir   ·   aumentar   ·   corregir   ·   mejorar   ·   validar   ·   decidir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35224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Guiar a la audiencia</a:t>
            </a:r>
            <a:r>
              <a:rPr sz="1050">
                <a:solidFill>
                  <a:srgbClr val="586071"/>
                </a:solidFill>
                <a:latin typeface="Segoe UI"/>
              </a:rPr>
              <a:t>  — invitan a recorrer el contenido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927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explorar   ·   comprender   ·   navegar   ·   revisar   ·   profundizar   ·   descubrir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77056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Storytelling y énfasis visual</a:t>
            </a:r>
            <a:r>
              <a:rPr sz="1050">
                <a:solidFill>
                  <a:srgbClr val="586071"/>
                </a:solidFill>
                <a:latin typeface="Segoe UI"/>
              </a:rPr>
              <a:t>  — señalan dónde mirar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61104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destacar   ·   resaltar   ·   revelar   ·   indicar   ·   exponer   ·   subrayar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18888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Botones, filtros e interacciones</a:t>
            </a:r>
            <a:r>
              <a:rPr sz="1050">
                <a:solidFill>
                  <a:srgbClr val="586071"/>
                </a:solidFill>
                <a:latin typeface="Segoe UI"/>
              </a:rPr>
              <a:t>  — la microcopia de la interfaz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02936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aplicar   ·   limpiar   ·   seleccionar   ·   filtrar   ·   expandir   ·   contraer   ·   ver más   ·   resetear   ·   actualizar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Diccionario · palabras por campo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Data visualization</a:t>
            </a:r>
            <a:r>
              <a:rPr sz="1050">
                <a:solidFill>
                  <a:srgbClr val="586071"/>
                </a:solidFill>
                <a:latin typeface="Segoe UI"/>
              </a:rPr>
              <a:t>  — el vocabulario para nombrar lo que muestra un gráfico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35608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tendencia   ·   proporción   ·   disminución   ·   patrón   ·   valle   ·   impacto   ·   desempeño   ·   frecuencia   ·   relación   ·   intervalo   ·   cambio   ·   variación   ·   comparación   ·   desviación   ·   anomalía   ·   promedio   ·   contribución   ·   riesgo   ·   probabilidad   ·   segmentación   ·   proyección   ·   estabilidad   ·   distribución   ·   crecimiento   ·   concentración   ·   pico   ·   rango   ·   rendimiento   ·   correlación   ·   categoría   ·   estimación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Titulares / Insights</a:t>
            </a:r>
            <a:r>
              <a:rPr sz="1050">
                <a:solidFill>
                  <a:srgbClr val="586071"/>
                </a:solidFill>
                <a:latin typeface="Segoe UI"/>
              </a:rPr>
              <a:t>  — adjetivos que dan peso al hallazgo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clave   ·   principal   ·   evidente   ·   inesperado   ·   estable   ·   relevante   ·   crítico   ·   dominante   ·   inmediato   ·   reciente   ·   significativo   ·   notable   ·   consistente   ·   sostenido   ·   acumulado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35224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Comunicación de riesgo</a:t>
            </a:r>
            <a:r>
              <a:rPr sz="1050">
                <a:solidFill>
                  <a:srgbClr val="586071"/>
                </a:solidFill>
                <a:latin typeface="Segoe UI"/>
              </a:rPr>
              <a:t>  — cuando lo que está en juego es la incertidumbre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927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riesgo   ·   severidad   ·   intervalo   ·   variabilidad   ·   proporción   ·   probabilidad   ·   magnitud   ·   certeza   ·   evidencia   ·   prevalencia   ·   incidencia   ·   exposición   ·   incertidumbre   ·   tasa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Diccionario · palabras por campo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UX / UI</a:t>
            </a:r>
            <a:r>
              <a:rPr sz="1050">
                <a:solidFill>
                  <a:srgbClr val="586071"/>
                </a:solidFill>
                <a:latin typeface="Segoe UI"/>
              </a:rPr>
              <a:t>  — el idioma de la interfaz y la legibilidad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35608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enfoque   ·   claridad   ·   destacado   ·   alineado   ·   contraste   ·   legibilidad   ·   agrupado   ·   limpio   ·   jerarquía   ·   accesible   ·   ordenado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Neuromarketing / publicidad</a:t>
            </a:r>
            <a:r>
              <a:rPr sz="1050">
                <a:solidFill>
                  <a:srgbClr val="586071"/>
                </a:solidFill>
                <a:latin typeface="Segoe UI"/>
              </a:rPr>
              <a:t>  — para cuando quieres mover, no solo informar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clave   ·   urgente   ·   aceleración   ·   caída   ·   señal   ·   esencial   ·   oportunidad   ·   impulso   ·   punto de inflexión   ·   fricción   ·   principal   ·   tendencia   ·   saturación   ·   gatillo   ·   barrera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35224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Datos / BI</a:t>
            </a:r>
            <a:r>
              <a:rPr sz="1050">
                <a:solidFill>
                  <a:srgbClr val="586071"/>
                </a:solidFill>
                <a:latin typeface="Segoe UI"/>
              </a:rPr>
              <a:t>  — los tecnicismos que un público de negocio ya entiende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19272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KPI   ·   performance   ·   outliers   ·   variación neta   ·   métrica   ·   benchmark   ·   forecast   ·   delta   ·   productividad   ·   indicador   ·   desviación   ·   YoY / MoM   ·   margen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77056"/>
            <a:ext cx="111858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Storytelling con datos</a:t>
            </a:r>
            <a:r>
              <a:rPr sz="1050">
                <a:solidFill>
                  <a:srgbClr val="586071"/>
                </a:solidFill>
                <a:latin typeface="Segoe UI"/>
              </a:rPr>
              <a:t>  — las piezas del relato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61104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contexto   ·   impacto   ·   explicación   ·   conclusión   ·   situación   ·   causa   ·   evolución   ·   consecuencia   ·   recomendación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84632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 · el título que orienta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Estas palabras viven en el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título dinámico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de cada visual (medida DAX + «Título condicional»), en botones y marcadores, en tooltips y en segmentadores. Un título que afirma, no que describe: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1D2638"/>
                </a:solidFill>
                <a:latin typeface="Consolas"/>
              </a:rPr>
              <a:t>Titulo = "Las ventas de " &amp; SELECTEDVALUE(Region[Nombre])
  &amp; " caen un " &amp; FORMAT([Var% YoY],"0%") &amp; " frente al año pasado"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marco académico: What-Why-How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No confundir con el ¿Quién? ¿Qué? ¿Cómo? de la Parte 01: este es el marco que separa la pregunta de negocio de la técnica visual, para no elegir el gráfico antes que el problema.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Los datos disponibles: tipo, estructura, granularidad.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92024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4898" y="2057400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2926080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tarea del usuario: comparar, localizar, ver tendencia, encontrar anomalías.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2556" y="192024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9716" y="2057400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2926080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técnica de codificación visual elegida para resolver esa tarea.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7764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Tamara Munzner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En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Visualization Analysis and Design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(2014), Munzner obliga a resolver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why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antes que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how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: si el gráfico se elige primero y se justifica después, el análisis empieza al revés.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Cómo percibe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el cerebro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Toda visualización depende de cómo el cerebro decide qué ver, qué ignorar y qué recordar.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Los tres tipos de memoria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Atraer y retener la atención del público es un problema de memoria. Trabajamos con tres almacenes encadenados, y cada uno impone una regla de diseño.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8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Memoria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hace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te obliga a hacer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Icónica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Detecta al instante color, forma, tamaño, orientación, movimiento.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Marcar lo importante antes de que el lector «lea».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Corto plazo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Retiene solo </a:t>
                      </a:r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3-4 elementos</a:t>
                      </a:r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. Con 5 colores y 10 leyendas, abandona.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Agrupar, etiquetar y simplificar. Nunca superar su límite.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Largo plazo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Guarda patrones, reconocimiento y significado.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Anclar con imágenes, metáforas, conexión. Texto + imagen = más recuerdo.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233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consecuencia práctica: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conectar texto e imagen multiplica la probabilidad de recuerdo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Un número solo se olvida; un número junto a la frase que explica por qué importa, se queda.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11185855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Cowan (2001)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El clásico «7±2» de Miller (1956) es una cifra divulgativa, no un límite real de capacidad. Nelson Cowan, en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The Magical Number 4 in Short-Term Memory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(2001), revisó la evidencia y fijó el límite en unos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4 elementos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sin ayudas como repetición o agrupación. Es la cifra que justifica por qué un dashboard no debería superar 4-6 KPI visibles a la vez.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Preatentivos: lo que el cerebro ve en 200 ms</a:t>
            </a:r>
          </a:p>
        </p:txBody>
      </p:sp>
      <p:pic>
        <p:nvPicPr>
          <p:cNvPr id="4" name="Picture 3" descr="slide020_cap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135" y="1051560"/>
            <a:ext cx="7749424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Señales que el cerebro procesa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antes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de la atención consciente. La palanca nº1 para dirigir la mirada.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4632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Cuantitativos («cuánto»)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longitud · posición · tamaño · grosor · intensidad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484632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Categóricos («de qué tipo»)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color · forma · patrón · orientación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repertorio completo de 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Señales que el cerebro detecta en 200 ms. En cada ejemplo, el elemento distinto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salta solo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:</a:t>
            </a:r>
          </a:p>
        </p:txBody>
      </p:sp>
      <p:pic>
        <p:nvPicPr>
          <p:cNvPr id="5" name="Picture 4" descr="slide021_cap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20240"/>
            <a:ext cx="11185854" cy="27403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752054"/>
            <a:ext cx="11185855" cy="178590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Ware · Cleveland &amp; McGill · Few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Colin Ware agrupa estas señales en 4 familias: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color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,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forma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(tamaño, longitud, orientación, curvatura, agrupación espacial…),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movimiento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y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posición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(incluida la profundidad simulada con difuminado). El ojo decodifica con más precisión la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posición sobre una escala común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, luego la longitud, luego el ángulo, y muy por detrás el área y el color — por eso una barra comunica mejor que un donut o una burbuja. «Agrupación» y «Difuminado» los añade Stephen Few en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Now You See It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método: 3 pasos para dirigir la mirada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¿Para qué sirve todo esto? Para dos cosas: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dirigir la atención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y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crear una jerarquía visual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Un gráfico sin estas señales obliga al cerebro a trabajar más; aumenta la carga cognitiva, baja la comprensión y el mensaje se diluye. El método para aplicarlo son tres pasos: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1.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Llévalo todo al gris.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Parte de un lienzo sin énfasis. Nada destaca todavía.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2.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Pregúntate qué es lo importante.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Decide el único mensaje que debe sobrevivir.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3.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Resáltalo con tamaño, color y grosor.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Dos o tres atributos, no más, sobre ese elemento.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11185855" cy="1627632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Aplicado a cada palanca</a:t>
            </a:r>
          </a:p>
          <a:p>
            <a:pPr>
              <a:spcBef>
                <a:spcPts val="500"/>
              </a:spcBef>
            </a:pPr>
            <a:r>
              <a:rPr sz="1200" b="1" i="0">
                <a:solidFill>
                  <a:srgbClr val="1D2638"/>
                </a:solidFill>
                <a:latin typeface="Segoe UI"/>
              </a:rPr>
              <a:t>Color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— todo en gris y solo lo importante coloreado.  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Tamaño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— si algo importa, hazlo grande; la percepción del tamaño es inmediata y es señal de jerarquía.  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Posición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— leemos de arriba abajo e izquierda a derecha: fija el recorrido y el orden de prioridad.  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Marcadores y etiquetas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— solo las importantes.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Precisión perceptiva: qué tan bien se lee un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Distinta pregunta de «qué atributo llama la atención»: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¿qué atributo permite leer un valor con exactitud?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Cleveland &amp; McGill (1984), popularizada por Alberto Cairo — nueve niveles, no ocho: dirección/pendiente y ángulo son escalones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distintos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8585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617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Atributo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Ejemplos de Cairo / en un gráfico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Posición en escala común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Dot plot, barras, líneas, 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Posición en escalas no alineadas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Pequeños múltiplos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Longitud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Barras agrupadas desde base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Dirección / pendiente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Slopegraph, línea de tendencia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Ángulo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Pie/donut — ya notablemente peor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Área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Burbujas, treemap, isotype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Volumen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Cubos, esferas 3D — evítalos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Saturación e intensidad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Mapa de calor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6177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Matiz (color puro)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Solo categorías, nunca cantidad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ranking dentro del ranking: leer una proporción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Franconeri et al. (2021) cuantifican la misma jerarquía con un experimento: estimar una proporción de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1:7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entre dos valores, codificada de 5 formas. Cada vez más ruidosa al bajar de nivel: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858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Atributo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ocurre al leer 1:7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Posición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La más fiable — dos puntos, mismo eje.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Longitud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Casi tan fiable — barras, misma base.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Área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Ya se subestima (ver ilusión de burbujas).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Ángulo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Distorsionado por el color/tamaño adyacente.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Intensidad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La más ruidosa — cambia según el fondo.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937760"/>
            <a:ext cx="11185855" cy="16002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la jerarquía depende de la tarea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Es la más precisa para leer un valor puntual o comparar dos, pero para el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promedio, máximo o mínimo de un panel completo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la ventaja de la posición desaparece: el ojo extrae esas estadísticas globales casi igual de rápido con posición, longitud, área, ángulo o intensidad, si las marcas comparten escala.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Ley de saliencia · el orden del cerebro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Contraste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En dataviz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El más potente. Gris vs. color = palanca nº1.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Luminancia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Claro/oscuro; funciona sin color.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Tamaño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Señal fuerte de jerarquía.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Orientación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Un elemento inclinado entre rectos.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Movimiento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El más llamativo; rara vez apropiado.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6908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Reducido a la práctica del dato: el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color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es lo más potente (gris/color), el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tamaño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es un refuerzo fuerte y el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grosor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de línea, un tercer nivel. Dos principios cierran la idea: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un elemento diferente entre muchos iguales se recuerda más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, y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el cerebro prefiere patrones simples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Cuantas menos comparaciones simultáneas exijas, más rápido se comprende lo visual.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Las leyes de la Gestalt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Gestalt describe cómo el cerebro agrupa lo que ve en conjuntos con sentido. En diseño de datos sirven para lo mismo que todo lo anterior: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reducir la carga cognitiva, separar la señal del ruido, dirigir la mirada sin elementos extra y eliminar el caos visual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Las que necesitas dominar: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78627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Proximidad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lo cercano se percibe como un todo.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Semejanza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mismo color/forma = relacionados.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Región común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un entorno compartido los agrupa.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Cierre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la mente completa las formas que faltan.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Continuidad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la vista sigue la ruta más simple.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Conectividad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lo unido por una línea = un grupo.</a:t>
            </a:r>
          </a:p>
        </p:txBody>
      </p:sp>
      <p:pic>
        <p:nvPicPr>
          <p:cNvPr id="6" name="Picture 5" descr="slide026_cap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015" y="1920240"/>
            <a:ext cx="458289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0147" y="5257800"/>
            <a:ext cx="54786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El cerebro agrupa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antes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de que expliques nada.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Rápida para promedios, lenta para comparar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Una revisión reciente y muy citada —Franconeri, Padilla, Shah, Zacks &amp; Hullman (2021)— añade un matiz operativo a todo lo anterior: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Vista potente: estadísticas globales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El ojo extrae </a:t>
            </a:r>
            <a:r>
              <a:rPr sz="1250" b="1" i="0">
                <a:solidFill>
                  <a:srgbClr val="1D2638"/>
                </a:solidFill>
                <a:latin typeface="Segoe UI"/>
              </a:rPr>
              <a:t>en paralelo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 el máximo, el mínimo y la media de un panel completo, casi al instante.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Solo si las marcas comparten escala y están alineadas.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Vista lenta: comparar dos valores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Cada comparación individual cuesta cientos de milisegundos.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La memoria de trabajo solo sostiene con fiabilidad unas </a:t>
            </a:r>
            <a:r>
              <a:rPr sz="1250" b="1" i="0">
                <a:solidFill>
                  <a:srgbClr val="1D2638"/>
                </a:solidFill>
                <a:latin typeface="Segoe UI"/>
              </a:rPr>
              <a:t>4 comparaciones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 simultáneas.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Consecuencia práctica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Un dashboard con 12 KPI en fila no se «compara»: se escanea a trozos. Dibuja el delta ya calculado, resalta la única comparación que importa y etiqueta el dato en vez de usar leyenda — las tres tácticas de la Parte 04.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Lo que hace el cerebro, en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Mira primero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lo diferente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Después,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lo más grande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Interpreta más rápido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lo que está arriba a la izquierda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4.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Ignora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lo que está en gris claro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5.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Forma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categorías automáticamente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Diseñar es ponerte de acuerdo con estas cinco tendencias, no luchar contra ellas.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84632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 · Gestalt aplicada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Proximidad / región común: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agrupa visuales con espacio en blanco (no líneas); un rectángulo de relleno muy suave hace de «entorno».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Semejanza: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reserva un color por categoría e igual en toda la página (tema JSON).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Conectividad: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una línea comunica una serie mejor que barras sueltas.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Usa «Alinear» y la cuadrícula para que la proximidad sea intencionada.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Reducir el ruido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Minimizar la información no útil y maximizar los datos frente al ruido. Cada elemento que no ayuda, resta.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2920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Carga cognitiva · el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Minimizar la información no útil y maximizar los datos frente al ruido. Evitar el caos: todo elemento que no ayuda a comprender.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1.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Eliminar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los elementos gráficos que no contienen datos.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2.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Hacer las cosas obvias: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mostrar solo lo importante.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3.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Agrupar y jerarquizar.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4.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Primero lo principal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y luego el detalle, si se quiere profundizar.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Carga cognitiva · las 6 preguntas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¿Transmite su idea principal en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30 segundos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¿Puedo quitar algo sin perder el mensaje?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¿Hay más de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3 colores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? ¿Es necesario?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4.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¿La leyenda obliga a mirar fuera del gráfico?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5.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¿Puedo incorporar las etiquetas dentro?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6.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¿Necesita el detalle ahora, o va en un apéndice?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7472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Tufte</a:t>
            </a:r>
          </a:p>
          <a:p>
            <a:pPr>
              <a:spcBef>
                <a:spcPts val="500"/>
              </a:spcBef>
            </a:pPr>
            <a:r>
              <a:rPr sz="1200" b="1" i="0">
                <a:solidFill>
                  <a:srgbClr val="1D2638"/>
                </a:solidFill>
                <a:latin typeface="Segoe UI"/>
              </a:rPr>
              <a:t>Data-ink ratio: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maximiza la tinta que es dato, borra la que no (bordes, sombras, 3D, cuadrículas gruesas =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chartjunk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). Matiz: conserva lo que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guía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(una línea de referencia, una etiqueta que orienta).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Supercategorías · domar los desgloses numerosos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20 categorías demográficas son ruido. Agrupadas en 4 supercategorías son una historia.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Un desglose con muchas categorías sueltas (edad por década, 12 productos, 30 delegaciones) obliga al lector a construir su propio orden mental antes de poder comparar 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92024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 w="12700">
            <a:solidFill>
              <a:srgbClr val="B9C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7307" y="205740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La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44144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Agrupa las categorías finas bajo 3-5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supercategorías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con sentido de negocio (edad → generación; productos → líneas; delegaciones → regiones). El detalle sigue disponible, pero ya no es la primera lectura.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Dónde aplicarlo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Dashboards con muchas dimensiones: RR. HH. (puestos → departamentos), catálogo (SKU → familia), geografía (ciudad → región). El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drill-down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de Power BI hace de puente entre las dos capas.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Antes / después: mismos datos</a:t>
            </a:r>
          </a:p>
        </p:txBody>
      </p:sp>
      <p:pic>
        <p:nvPicPr>
          <p:cNvPr id="4" name="Picture 3" descr="slide034_cap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639" y="1051560"/>
            <a:ext cx="7710417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Sin bordes ni cuadrícula, en gris salvo el protagonista, con etiqueta directa: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el mensaje aparece solo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4632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✕ Quita casi siempre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borde · gridlines · markers · escalas que exageran · colores saturados de más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484632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✓ Depura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10.000 → 10 k · etiqueta directa (sin leyenda) · color coherente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test del elemento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4833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Si el elemento…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Entonces…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lo quitas y </a:t>
                      </a:r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nada cambia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elimínalo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queda bonito pero </a:t>
                      </a:r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no aporta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elimínalo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hace </a:t>
                      </a:r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trabajar</a:t>
                      </a:r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 al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elimínalo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compite</a:t>
                      </a:r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 con lo importante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rebájalo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lo quitas y </a:t>
                      </a:r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debilita</a:t>
                      </a:r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 la historia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consérvalo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genera </a:t>
                      </a:r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confusión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cámbialo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52628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No elimines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el detalle cuando ES el significado (el símbolo € si la moneda importa).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949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Dónde se esconde el ruido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111858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bordes   ·   fondos   ·   logos grandes   ·   decimales   ·   categoría irrelevante   ·   líneas gruesas   ·   sombreado   ·   grids   ·   etiqueta duplicada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84632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 · limpieza en el panel Formato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Gridlines fuera: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Ejes → Cuadrículas → desactivar (o transparencia 80–90%).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Etiquetas directas: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activa etiquetas de datos y quita la leyenda.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Eje corto: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Unidades de visualización → Miles/Millones (10.000 → 10 mil).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Sin borde ni sombra: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Efectos → desactivar; fondo transparente.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Gris por defecto: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color solo a la serie protagonista por regla. Un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tema JSON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lo hace de fábrica.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Dirigir la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Limpio el ruido, el trabajo es guiar la mirada. Diseño + psicología + narrativa construyen jerarquía.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2920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Pensar como un diseñador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Antes de tocar el color, define la intención.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¿Qué quieres que haga tu audiencia?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compare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vea un patrón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detecte un riesgo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entienda una tendencia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tome una decisión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recuerde algo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014216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Affordances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El diseño debe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sugerir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cómo leer o interpretar el gráfico, sin que nadie tenga que explicarlo.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Destacar el 10 %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Solo puedes destacar un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10 %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de la visualización. Si destacas más, dejas de destacar.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Recursos: negrita, mayúsculas, color, tamaño, cursiva, subrayado. Usa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2-3 como mucho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, sobre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un elemento por gráfico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47307" y="118872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Jerarquía de recursos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7307" y="2057400"/>
            <a:ext cx="5204307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Color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= último recurso. Cuenta la historia, no decora.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Tamaño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= importancia.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Mayúsculas breves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= puntos clave.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Nunca 3 tipografías.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1246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Affordances: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el diseño debe sugerir cómo leer el gráfico, sin que nadie lo explique.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contraste, con estrategia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La trampa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Si todo es importante, nada lo es.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Si todo está en color, el color deja de significar algo.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05156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La salida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Para destacar algo solo hace falta que </a:t>
            </a:r>
            <a:r>
              <a:rPr sz="1250" b="1" i="0">
                <a:solidFill>
                  <a:srgbClr val="1D2638"/>
                </a:solidFill>
                <a:latin typeface="Segoe UI"/>
              </a:rPr>
              <a:t>un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 elemento sea distinto: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todo gris → una barra en color.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fórmula que se repite: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1 color de énfasis + 1 color base + neutros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Los CEOs no leen: saltan al color distinto.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Color · el tipo de dato manda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Paleta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Cuándo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Ejemplo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Categórica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Categorías sin orden. Colores distintos.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Norte · Sur · 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Secuencial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Magnitud de menos a más. Un tono claro→oscuro.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0 % → 100 %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Divergente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Desviación con dos direcciones desde un centro.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−20 ← 0 → +20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154680"/>
            <a:ext cx="11185855" cy="33832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Accesibilidad cromática · Franconeri et al. (2021)</a:t>
            </a:r>
          </a:p>
          <a:p>
            <a:pPr>
              <a:spcBef>
                <a:spcPts val="500"/>
              </a:spcBef>
            </a:pPr>
            <a:r>
              <a:rPr sz="1200" b="1" i="0">
                <a:solidFill>
                  <a:srgbClr val="1D2638"/>
                </a:solidFill>
                <a:latin typeface="Segoe UI"/>
              </a:rPr>
              <a:t>~8 % de los hombres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tiene daltonismo (casi siempre rojo-verde). No codifiques solo con color: refuerza con posición, etiqueta o forma. Test: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en escala de grises, ¿se entiende?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Alternativa segura de Knaflic para positivo/negativo: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azul / naranja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— misma lectura instantánea, sin depender de la distinción rojo-verde. Regla general de la literatura: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doble-codifica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siempre que puedas — color + forma, o color + patrón — y apóyate en paletas ya validadas como ColorBrewer en vez de improvisar la tuya. Un matiz más de Franconeri et al.: incluso con visión normal, rojo y verde en alta saturación se «funden» perceptualmente — su recomendación evidenciada para escalas divergentes es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azul (positivo) / rojo (negativo)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 Este manual mantiene verde/rojo como convención de marca deliberada; resérvate azul/rojo como alternativa para informes de cara al cliente o de distribución pública.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Colores de marca · cuando el cliente impone la paleta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30189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1 · Reduce a 1-2 colores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De la paleta corporativa completa, elige solo el color de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énfasis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(y, si acaso, un secundario). El resto de la marca —logo, tipografía— vive en la portada, no en cada gráfico.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05156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4898" y="1188720"/>
            <a:ext cx="330189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2 · Todo lo demás, a gris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1572768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regla de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énfasis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no cambia porque el color cambie: un color de marca + neutros. Si la marca «obliga» a usar 4 colores en un mismo gráfico, no es la marca — es el hábito.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05156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 w="12700">
            <a:solidFill>
              <a:srgbClr val="B9C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9716" y="1188720"/>
            <a:ext cx="330189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3 · Cuándo apartarte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1572768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Si el color de marca no da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3:1 de contraste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sobre el fondo del dashboard, no lo uses para datos — solo para acentos decorativos. La legibilidad gana a la identidad.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Knaflic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Como consultor, esto se repite en cada cliente: la paleta de marca es un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input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, no una excusa para romper la disciplina de color por trabajo (énfasis + neutros).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Fondos oscuros · la lógica de contraste se invierte</a:t>
            </a:r>
          </a:p>
        </p:txBody>
      </p:sp>
      <p:pic>
        <p:nvPicPr>
          <p:cNvPr id="4" name="Picture 3" descr="slide043_cap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78626" cy="3259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448462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Sobre negro, el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gris destaca menos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(se funde) y el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azul claro salta más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misma jerarquía, paleta espejada.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0147" y="1051560"/>
            <a:ext cx="5478627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El fondo blanco/crema no es una regla universal — es la elección de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este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manual para informes ejecutivos.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En tema oscuro, colores que evitarías en fondo blanco (amarillo, cian) funcionan bien; los que brillaban en blanco (azul marino) se apagan.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Power BI: tema oscuro nativo desde Configuración → Personalización, o un tema JSON propio con </a:t>
            </a:r>
            <a:r>
              <a:rPr sz="1300" b="0" i="0">
                <a:solidFill>
                  <a:srgbClr val="1D2638"/>
                </a:solidFill>
                <a:latin typeface="Consolas"/>
              </a:rPr>
              <a:t>"background":"#1D2638"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Posición · patrón Z y F</a:t>
            </a:r>
          </a:p>
        </p:txBody>
      </p:sp>
      <p:pic>
        <p:nvPicPr>
          <p:cNvPr id="4" name="Picture 3" descr="slide044_cap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88" y="1051560"/>
            <a:ext cx="8736518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Coloca lo importante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sobre la trayectoria del ojo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. Alineación a la izquierda = lectura más rápida.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4632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Patrón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— pieza ligera. El ojo entra arriba a la izquierda, recorre en horizontal, baja en diagonal y vuelve a barrer. Título, ejes y leyendas arriba a la izquierda; el CTA donde acaba la 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484632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498348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Patrón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7307" y="585216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— dashboard denso. Barridos horizontales que decrecen al bajar. Lo esencial en la primera banda; el detalle, más abajo.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9037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izquierda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es la zona noble: insights clave, métrica clave, resumen, llamada a la acción.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¿Qué estimula cada recurso?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477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Recurso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comunica al cerebro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esto es importante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Posición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este es el recorrido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Tamaño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esta es la prioridad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Limpieza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hay intención detrás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Agrupación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estas cosas se relacionan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Alineación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hay orden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Título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así debes interpretar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Ausencia de ruido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esto es profesional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Jerarquía visual · y el tema JSON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547862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313"/>
                <a:gridCol w="2739314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Nivel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Dónde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Importante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Arriba-izquierda · grande, color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Secundario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Centro · medio, neutro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Complementario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Final · pequeño, gris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0147" y="105156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▶ El tema JSON = tu jerarquía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0147" y="1920240"/>
            <a:ext cx="5478627" cy="8229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100">
                <a:solidFill>
                  <a:srgbClr val="1D2638"/>
                </a:solidFill>
                <a:latin typeface="Consolas"/>
              </a:rPr>
              <a:t>{ "dataColors":
  ["#4A628E","#e6e6e6",
   "#bfbfbf","#1D2638",
   "#6E7F5B","#C2412E"]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147" y="283464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2º color gris → lo secundario nace apagado. Morado solo por regla.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Ayudar a comparar: 3 tácticas con respaldo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Comparar dos valores tarda al cerebro cientos de milisegundos, y solo procesamos unas pocas comparaciones por segundo. Tres formas de quitarle ese trabajo al lector: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1.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Muestra el delta directamente.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Añade una segunda vista con la diferencia ya calculada (actual vs. objetivo, este año vs. el pasado) en vez de obligar a restar mentalmente dos barras.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2.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Resalta y anota la comparación que importa.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Color + texto junto al dato, para que el lector no tenga que buscar con la vista de un lado a otro.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3.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Agrupa con la señal correcta.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Las líneas de conexión son la más potente, luego la proximidad, luego el color, luego la forma — en ese orden de prioridad.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11185855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Franconeri, Padilla, Shah, Zacks &amp; Hullman (2021)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De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The Science of Visual Data Communication: What Works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Psychological Science in the Public Interest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): la posición es el canal más preciso para leer una proporción, seguida de longitud, área, ángulo e intensidad — en ese orden. Confirma por qué la barra (posición + longitud) gana casi siempre al donut (área) o al mapa de calor (intensidad).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Elegir el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4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El gráfico correcto es el que comunica la idea con el menor esfuerzo del lector. No el más vistoso.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2920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2-3 cifras · texto simple, no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6371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507E"/>
                </a:solidFill>
                <a:latin typeface="Segoe UI"/>
              </a:rPr>
              <a:t>−2,4 M€</a:t>
            </a:r>
          </a:p>
          <a:p>
            <a:pPr algn="ctr"/>
            <a:r>
              <a:rPr sz="1050">
                <a:solidFill>
                  <a:srgbClr val="586071"/>
                </a:solidFill>
                <a:latin typeface="Segoe UI"/>
              </a:rPr>
              <a:t>Abandono evitable / 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7258" y="1051560"/>
            <a:ext cx="36371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507E"/>
                </a:solidFill>
                <a:latin typeface="Segoe UI"/>
              </a:rPr>
              <a:t>73 %</a:t>
            </a:r>
          </a:p>
          <a:p>
            <a:pPr algn="ctr"/>
            <a:r>
              <a:rPr sz="1050">
                <a:solidFill>
                  <a:srgbClr val="586071"/>
                </a:solidFill>
                <a:latin typeface="Segoe UI"/>
              </a:rPr>
              <a:t>Se va en los primeros 90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51596" y="1051560"/>
            <a:ext cx="363717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507E"/>
                </a:solidFill>
                <a:latin typeface="Segoe UI"/>
              </a:rPr>
              <a:t>4×</a:t>
            </a:r>
          </a:p>
          <a:p>
            <a:pPr algn="ctr"/>
            <a:r>
              <a:rPr sz="1050">
                <a:solidFill>
                  <a:srgbClr val="586071"/>
                </a:solidFill>
                <a:latin typeface="Segoe UI"/>
              </a:rPr>
              <a:t>Más riesgo sin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el «BAN» de Few</a:t>
            </a:r>
          </a:p>
          <a:p>
            <a:pPr>
              <a:spcBef>
                <a:spcPts val="500"/>
              </a:spcBef>
            </a:pPr>
            <a:r>
              <a:rPr sz="1200" b="1" i="0">
                <a:solidFill>
                  <a:srgbClr val="1D2638"/>
                </a:solidFill>
                <a:latin typeface="Segoe UI"/>
              </a:rPr>
              <a:t>Big-Ass Number: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el número que responde la pregunta, enorme y arriba. Regla: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un número, un contexto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(vs. objetivo o vs. periodo). Un KPI sin comparación es un número huérfano.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Los formatos base y cuándo usarlos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30189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Tabla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Buena cuando quieres transmitir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distintas unidades a la vez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o el lector necesita valores exactos. No es buena en presentación —obliga a leer, no a ver—. Que se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fusione con el fondo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: destacan los datos, no la rejilla.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05156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4898" y="1188720"/>
            <a:ext cx="330189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Líneas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4898" y="1572768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Representan datos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en el tiempo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La continuidad de la línea es justo lo que el cerebro necesita para leer una evolución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(ley de conectividad)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051560"/>
            <a:ext cx="3576218" cy="14630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 w="12700">
            <a:solidFill>
              <a:srgbClr val="B9C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9716" y="1188720"/>
            <a:ext cx="330189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Barras y columnas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9716" y="1572768"/>
            <a:ext cx="330189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Úsalas más que ninguna: familiares y fáciles de leer. Dos reglas de oro: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siempre a base 0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(si no, exageras y engañas) y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barras horizontales cuando los nombres son largos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—leemos en Z, es más fácil recorrerlas—.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Más formatos (1/2) · mapa de calor y cascada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051_cap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505" y="1188720"/>
            <a:ext cx="939457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Color en vez de cifra para hallar extremos al instante. Siempre con leyenda BAJO–ALTO.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51_cap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70" y="1188720"/>
            <a:ext cx="1281182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Descompone un total en sus incrementos y decrementos hasta el resultado final.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Knaflic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Ambos son formatos base del libro, no «opciones avanzadas»: el mapa de calor sustituye a una tabla densa; la cascada, a una barra apilada cuando lo que importa es el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camino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del cambio, no solo el total.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Más formatos (2/2) · slopegraph y áreas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052_ca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502" y="1188720"/>
            <a:ext cx="1199464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Una línea entre dos momentos: sube o baja, de un vistazo. Colorea solo la que cuenta la historia.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52_cap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910" y="1188720"/>
            <a:ext cx="1223101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2ª dimensión (área) compacta magnitudes muy dispares. Úsala con moderación: el ojo mide peor superficies que longitudes.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Base 0 y orientación</a:t>
            </a:r>
          </a:p>
        </p:txBody>
      </p:sp>
      <p:pic>
        <p:nvPicPr>
          <p:cNvPr id="4" name="Picture 3" descr="slide053_ca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170" y="1051560"/>
            <a:ext cx="6879354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Dos decisiones de honestidad: orientación según la etiqueta y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siempre base 0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en barras.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Tabla: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distintas unidades / valores exactos. Se funde con el fondo.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147" y="484632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Líneas: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datos en el tiempo.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Barras: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lo más familiar, fáciles de leer.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Ricitos de Oro y el eje que engaña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054_ca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85" y="1188720"/>
            <a:ext cx="1859897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Más anchas que el hueco (el fondo no compite) sin llegar a comparar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área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en vez de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longitud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054_cap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662" y="1188720"/>
            <a:ext cx="1581597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Mismo dato (35% → 39,6%), dos ejes: uno lo cuadruplica visualmente, el otro dice la verdad.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11185855" cy="19202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Knaflic · Franconeri et al. (2021)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El caso real de Fox News sobre la subida de impuestos: truncar el eje en 34 hizo que un aumento relativo del 13% pareciera un incremento del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460%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 Barras siempre a base 0 — sin excepción. Y un matiz que suele sorprender: en estudios de laboratorio,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el engaño persiste aunque el lector lea la cifra exacta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y sepa que el eje está truncado — no basta con etiquetar el eje, hay que eliminar el truco.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La ilusión de la barra apilada</a:t>
            </a:r>
          </a:p>
        </p:txBody>
      </p:sp>
      <p:pic>
        <p:nvPicPr>
          <p:cNvPr id="4" name="Picture 3" descr="slide055_ca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808" y="1051560"/>
            <a:ext cx="7460079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Solo el segmento que toca el eje se lee por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posición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(preciso). Los demás exigen comparar longitudes flotantes.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Barra apilada: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si el segmento intermedio es tu protagonista, sácalo de la pila (barras agrupadas o pequeños múltiplos) o ponlo pegado a la base.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Líneas: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si la brecha entre dos series es el mensaje, dibuja una tercera línea con esa diferencia ya calculada.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Burbujas: el área está bien, pero el ojo lee el 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más contraintuitiva: ocurre incluso con el gráfico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bien construido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Si el área es proporcional al valor (lo correcto), el radio crece con la raíz cuadrada — un valor ×7 tiene un radio de solo ×2,65. Y el ojo juzga el círculo por su radio, no por su área.</a:t>
            </a:r>
          </a:p>
        </p:txBody>
      </p:sp>
      <p:pic>
        <p:nvPicPr>
          <p:cNvPr id="5" name="Picture 4" descr="slide056_ca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983" y="1920240"/>
            <a:ext cx="7259729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Un círculo correctamente codificado por área sigue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subestimando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proporciones grandes.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Dos ilusiones más que hay que conocer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El ángulo también engaña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En un gráfico de sectores, dos porciones con la misma diferencia angular no se perciben igual si tienen distinto color o brillo — un sector oscuro «parece» más grande que uno claro con el ángulo idéntico. La misma cifra, leída de forma distinta según el color.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18872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No pintes intensidad sobre intensidad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157276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valor percibido de un color depende del fondo que lo rodea (contraste simultáneo). Evita superponer un marcador codificado por color sobre un mapa de calor u otro fondo también codificado por color: ninguno de los dos se lee con fiabilidad.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Franconeri et al. (2021)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Junto a la ilusión de la barra apilada y el eje truncado, estas cinco son las distorsiones más comunes en dashboards de negocio — todas ocurren con gráficos técnicamente «correctos».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Selección por objetivo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547862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313"/>
                <a:gridCol w="2739314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Mostrar…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Usa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Tendencias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Líneas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Comparación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Columnas / barras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Proporciones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Barras apiladas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Distribución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Histograma · scatter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0147" y="105156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＋ Visual Vocabulary (FT) · 9 familias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0147" y="1920240"/>
            <a:ext cx="547862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34507E"/>
                </a:solidFill>
                <a:latin typeface="Segoe UI"/>
              </a:rPr>
              <a:t>Desviación   ·   Correlación   ·   Ranking   ·   Distribución   ·   Cambio en el tiempo   ·   Magnitud   ·   Parte-todo   ·   Espacial   ·   Flujo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147" y="2478024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donut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solo con 2-3 porciones muy distintas; para proporciones, casi siempre gana la barra.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Visual Vocabulary (FT) · 9 familias y sus gráficos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Familia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Cuándo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Gráficos típicos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Desviación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Variación +/− respecto a una 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Barras/columnas divergentes, línea de superávit/déficit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Correlación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Relación entre dos o más variables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Dispersión, burbujas, conexión, gráfico de pendiente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La posición importa más que el valor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Barras ordenadas, lollipop, slope, pirámide de población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Distribución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Qué valores hay y con qué frecuencia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Histograma, boxplot, violín, gráfico de abanico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Cambio en 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Énfasis en la tendencia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Líneas, áreas, velas, calendario, torrente/streamgraph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Magnitud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Comparar tamaños (números contados)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Columnas, barras, lollipop, Marimekko, isotype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Parte-todo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Cómo se descompone un entero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Barras apiladas, treemap, donut (cautela), cascada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Espacial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La ubicación geográfica es lo esencial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Coropletas, mapa de puntos, cartograma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Flujo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Movimiento entre estados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Sankey, cuerdas, aluvial, diagrama de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84632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BAN: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Tarjeta + medida de variación con formato condicional (verde/rojo + icono).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Base 0: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Eje Y → Inicio = 0 (Power BI autoescala; fíjalo a mano).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Parte-todo: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barras apiladas mejor que donut; treemap con muchas categorías.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Ranking: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ordena por valor + «Top N» en el filtro.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Tabla: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quita cuadrícula vertical + formato condicional (barras de datos).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Componer como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diseñador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El layout es el esqueleto narrativo. Si el lector percibe desorden, abandona antes de leer un número.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Orden visual = esqueleto narrativo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Si el lector percibe desorden, abandona.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78627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Texto a la izquierda; en gráficos comparativos, al centro.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El espacio es respiración, no hueco.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Escalas de espaciado: 8 · 16 · 24 · 32 px.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Título → la gran idea. Subtítulo → el insight.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0147" y="1920240"/>
            <a:ext cx="5478627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Máximo 2 tipografías (título + cuerpo).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Color: 1 primario + 1 énfasis + neutros.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Espacio: 16 px entre bloques, 8 px entre líneas.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Rejilla: </a:t>
            </a:r>
            <a:r>
              <a:rPr sz="1300" b="0" i="0">
                <a:solidFill>
                  <a:srgbClr val="1D2638"/>
                </a:solidFill>
                <a:latin typeface="Consolas"/>
              </a:rPr>
              <a:t>#e6e6e6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Sistema de layout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547862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313"/>
                <a:gridCol w="2739314"/>
              </a:tblGrid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Margen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24–32 px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3 columnas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Gutter / bloques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16 px / 24 px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Título / subtítulo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18–26 / 14–16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Cuerpo / labels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11–13 / 10–11 px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Escala espaciado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8 · 16 · 24 · 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slide063_ca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47" y="1051560"/>
            <a:ext cx="5478627" cy="3225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0147" y="4322862"/>
            <a:ext cx="54786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La retícula invisible que hace que todo «cuadre».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71502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Sistema de 8 puntos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Múltiplos de 8 imponen un ritmo consistente que «cuadra» sin que sepas por qué. Es la sensación de orden que buscas.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Consistencia entre informes: IBCS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El sistema de layout de la página anterior ordena </a:t>
            </a:r>
            <a:r>
              <a:rPr sz="1500" b="0" i="1">
                <a:solidFill>
                  <a:srgbClr val="586071"/>
                </a:solidFill>
                <a:latin typeface="Segoe UI"/>
              </a:rPr>
              <a:t>un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informe. IBCS va un paso más allá: ordena </a:t>
            </a:r>
            <a:r>
              <a:rPr sz="1500" b="0" i="1">
                <a:solidFill>
                  <a:srgbClr val="586071"/>
                </a:solidFill>
                <a:latin typeface="Segoe UI"/>
              </a:rPr>
              <a:t>todos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los informes de una organización con el mismo lenguaje visual.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1185855" cy="19202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＋ Ampliación · IBCS (International Business Communication Standards)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IBCS define una notación semántica única para informes de negocio: el mismo color o forma significa siempre lo mismo en toda la organización (p. ej., gris = plan, azul = real). Existen add-ins IBCS-certificados para Power BI (Zebra BI); en 2026 IBCS se formalizó como norma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ISO 24896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 Aporta consistencia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entre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informes, más allá de la consistencia interna de un solo dashboard.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Alineación, espacio y ritmo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Alineación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ojo busca líneas rectas. Centrar rompe columnas. Izquierda = lectura más rápida, menos fatiga.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18872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Espacio en blanco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Estructura, respiración, énfasis. El ojo va hacia lo que contrasta, y el vacío contrasta.</a:t>
            </a:r>
          </a:p>
        </p:txBody>
      </p:sp>
      <p:pic>
        <p:nvPicPr>
          <p:cNvPr id="10" name="Picture 9" descr="slide065_ca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11185850" cy="10897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244419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Ritmo narrativo: el giro aterriza sobre el silencio que lo precede.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1619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Número grande + espacio = autoridad. Un gráfico aislado &gt; cinco amontonados.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Márgenes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como carriles de carretera (24–40 px): el espacio vertical mejora la memoria visual y reduce el tiempo de búsqueda.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Regiones por color · segmentadores con alcance limitado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Cuando un segmentador filtra solo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algunos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visuales de la página, el lector no tiene forma de saberlo con solo mirar. Un fondo que envuelve al segmentador y a los visuales que sí filtra lo hace visible sin una palabra — aplicación directa de la Gestalt (Parte 02) al canvas.</a:t>
            </a:r>
          </a:p>
        </p:txBody>
      </p:sp>
      <p:pic>
        <p:nvPicPr>
          <p:cNvPr id="5" name="Picture 4" descr="slide066_ca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35" y="1920240"/>
            <a:ext cx="9613826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257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Izquierda: el segmentador «Región» filtra un solo visual, pero nada lo indica. Derecha: el fondo lila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encierra</a:t>
            </a:r>
            <a:r>
              <a:rPr sz="1100" b="0" i="0">
                <a:solidFill>
                  <a:srgbClr val="586071"/>
                </a:solidFill>
                <a:latin typeface="Segoe UI"/>
              </a:rPr>
              <a:t> el segmentador con los dos únicos visuales a los que afecta.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715000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«Shape: rectángulo» con relleno muy suave (10-15% de opacidad), enviado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detrás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de los visuales («Orden→Enviar al fondo»). Agrupa el rectángulo con el segmentador y los visuales que encierra («Selección→Agrupar») para moverlos juntos. Reserva ese color solo para esto — si lo usas también para destacar datos, el ojo deja de distinguir «contenedor» de «información».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Checklist de orden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501487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Big idea legible en 3 segundos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Máximo 2 tipografías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Elementos alineados a un grid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Sin bordes ni sombras innecesarios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Espacios que respiran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7287" y="1051560"/>
            <a:ext cx="5501487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Agrupamiento lógico (proximidad/fondo)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Visual principal en el punto de entrada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Texto de soporte &lt; 25 %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2A6626"/>
                </a:solidFill>
              </a:rPr>
              <a:t>✓  </a:t>
            </a:r>
            <a:r>
              <a:rPr sz="1250" b="0">
                <a:solidFill>
                  <a:srgbClr val="1D2638"/>
                </a:solidFill>
                <a:latin typeface="Segoe UI"/>
              </a:rPr>
              <a:t>Leyendas y labels resueltos</a:t>
            </a:r>
          </a:p>
          <a:p>
            <a:pPr>
              <a:spcAft>
                <a:spcPts val="500"/>
              </a:spcAft>
            </a:pPr>
            <a:r>
              <a:rPr b="1" sz="1250">
                <a:solidFill>
                  <a:srgbClr val="34507E"/>
                </a:solidFill>
              </a:rPr>
              <a:t>★  </a:t>
            </a:r>
            <a:r>
              <a:rPr sz="1250" b="1">
                <a:solidFill>
                  <a:srgbClr val="1D2638"/>
                </a:solidFill>
                <a:latin typeface="Segoe UI"/>
              </a:rPr>
              <a:t>¿Se entiende en 30 segundos?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799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3 reglas de estética: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color · alineación · espacio en blanco.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84632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 · el canvas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Canvas: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</a:t>
            </a:r>
            <a:r>
              <a:rPr sz="1200" b="0" i="0">
                <a:solidFill>
                  <a:srgbClr val="1D2638"/>
                </a:solidFill>
                <a:latin typeface="Consolas"/>
              </a:rPr>
              <a:t>1280 × 720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(16:9); súbelo para informes largos y usa scroll.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Grid real: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Ver → Mostrar cuadrícula + Ajustar; panel Selección + Alinear/Distribuir.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Espaciado de 8: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posiciones y tamaños múltiplos de 8 px.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2 tipografías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en el tema (textClasses); Segoe UI de fábrica es segura.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Márgenes 24–32 px al borde; 16–24 px entre visuales; agrupa con fondos suaves.</a:t>
            </a:r>
          </a:p>
          <a:p>
            <a:r>
              <a:rPr sz="1200">
                <a:solidFill>
                  <a:srgbClr val="4A628E"/>
                </a:solidFill>
              </a:rPr>
              <a:t>— 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Fondo: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blanco o crema muy claro; evita imágenes de fondo que compiten con el dato.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El texto que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acompaña al dato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Un gráfico sin texto obliga a deducir. El texto bien puesto da la historia en bandeja.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texto da la historia, no la adorna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El objetivo del texto es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dar en bandeja la historia, no obligar a deducirla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texto útil…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547862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explica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guía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recomienda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interpreta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evita malentendidos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92024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Base obligatoria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292608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Títulos claros · ejes · etiquetas · unidades legibles. Nunca falta.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título orienta, no describe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✕ Describe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«Evolución de la tasa de abandono»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«Ventas Q4 por canal»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«Rendimiento de marketing»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05156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✓ Orienta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«El abandono se concentra en los primeros 90 días»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«El canal online ya pesa más que la tienda»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«El contenido rinde 4× la publicidad de pago»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Fórmula del titular</a:t>
            </a:r>
          </a:p>
          <a:p>
            <a:pPr>
              <a:spcBef>
                <a:spcPts val="500"/>
              </a:spcBef>
            </a:pPr>
            <a:r>
              <a:rPr sz="1200" b="1" i="0">
                <a:solidFill>
                  <a:srgbClr val="1D2638"/>
                </a:solidFill>
                <a:latin typeface="Segoe UI"/>
              </a:rPr>
              <a:t>[número específico] + [impacto en el negocio] + [contexto accionable]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 El texto útil explica, guía, recomienda, interpreta y evita malentendidos.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Anotaciones: el salto de nivel</a:t>
            </a:r>
          </a:p>
        </p:txBody>
      </p:sp>
      <p:pic>
        <p:nvPicPr>
          <p:cNvPr id="4" name="Picture 3" descr="slide072_ca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902" y="1051560"/>
            <a:ext cx="7895891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86071"/>
                </a:solidFill>
                <a:latin typeface="Segoe UI"/>
              </a:rPr>
              <a:t>La anotación hace el trabajo que, si no, hace el lector. </a:t>
            </a:r>
            <a:r>
              <a:rPr sz="1100" b="1" i="0">
                <a:solidFill>
                  <a:srgbClr val="586071"/>
                </a:solidFill>
                <a:latin typeface="Segoe UI"/>
              </a:rPr>
              <a:t>Señala el punto de inflexión.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463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cerebro recuerda historias, metáforas, eventos, causas y contrastes — no ejes. Un motivo más para anotar así: comparar dos valores es la tarea lenta del cerebro (Parte 02, Franconeri et al.). Una anotación pegada al punto que explica se lee sin ese salto; una leyenda o una nota al pie, no.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Cuando el texto lo escribe la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Copilot y el visual </a:t>
            </a:r>
            <a:r>
              <a:rPr sz="1500" b="1" i="0">
                <a:solidFill>
                  <a:srgbClr val="586071"/>
                </a:solidFill>
                <a:latin typeface="Segoe UI"/>
              </a:rPr>
              <a:t>Smart Narrative</a:t>
            </a:r>
            <a:r>
              <a:rPr sz="1500" b="0" i="0">
                <a:solidFill>
                  <a:srgbClr val="586071"/>
                </a:solidFill>
                <a:latin typeface="Segoe UI"/>
              </a:rPr>
              <a:t> ya escriben el texto que acompaña al dato por ti. La responsabilidad editorial de esta Parte 07 no desaparece: se traslada a la verificación.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✕ Riesgo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Resumen automático que da por hecha una relación, una causa o una cifra que la medida DAX no respalda — una alucinación con aspecto de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✓ Práctica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Trata todo texto generado por IA como </a:t>
            </a:r>
            <a:r>
              <a:rPr sz="1250" b="1" i="0">
                <a:solidFill>
                  <a:srgbClr val="1D2638"/>
                </a:solidFill>
                <a:latin typeface="Segoe UI"/>
              </a:rPr>
              <a:t>borrador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: verifícalo contra la medida original antes de publicarlo. La narrativa final la firma el analista, no el modelo.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 · Narrativa generada por IA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La IA no sustituye la «consultoría de contexto» de Knaflic (Parte 01) — la automatiza a medias. Sigue siendo tuya la decisión de qué destacar y qué callar.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Construir la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historia con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Todo lo anterior sirve una cosa: contar. Los humanos deciden por tensión y alivio.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La estructura en tres actos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Acto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contiene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La audiencia piensa…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Planteamiento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Contexto, protagonista, problema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«¿Por qué debería escuchar?»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Nudo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Conflicto, tensión, giro, descubrimiento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«Me importa. ¿Qué hacemos?»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Desenlace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Solución, recomendación, 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«¿Qué quieres que decida?»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15468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error clásico: quedarse en el primer acto. Mucho dato, ninguna tensión.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Un arco alternativo: «lo que es» vs. «lo que podría ser»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Los tres actos sirven para explicar. Cuando el objetivo es empujar una decisión de inversión o cambio, hay una estructura más directa.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Lo que 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situación actual, con datos: dónde estamos y qué nos cuesta seguir así.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92024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 w="12700">
            <a:solidFill>
              <a:srgbClr val="B9C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7307" y="205740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Lo que podría 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7307" y="2926080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La visión, también con datos: qué cambia si se toma la decisión propuesta.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4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Nancy Duarte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En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DataStory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(2019), Duarte plantea este arco como alternativa al planteamiento-nudo-desenlace: más orientado a impulsar un cambio concreto que a describir una situación. Útil para el panel de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Recomendación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de un dashboard ejecutivo.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4 preguntas · 7 reglas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4 preguntas para la historia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04307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¿Qué quiere tu protagonista?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¿Qué le impide lograrlo?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¿Qué fuerzas se oponen?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4.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¿Qué camino propone tu análisis?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 w="12700">
            <a:solidFill>
              <a:srgbClr val="B9C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18872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7 reglas para contar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1572768"/>
            <a:ext cx="520430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El tema tiene que importar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No pierdas el hilo (1 idea/slide)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Simplifica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4.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Recorta sin piedad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5.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Sé tú mismo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6.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Di exactamente lo que quieres decir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4507E"/>
                </a:solidFill>
                <a:latin typeface="Segoe UI"/>
              </a:rPr>
              <a:t>7.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Ten compasión del lector: se cansa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relato real, pieza a pieza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1 · Planteamiento</a:t>
            </a:r>
            <a:r>
              <a:rPr sz="1050">
                <a:solidFill>
                  <a:srgbClr val="586071"/>
                </a:solidFill>
                <a:latin typeface="Segoe UI"/>
              </a:rPr>
              <a:t>  — 5 elementos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04307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Escenario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¿dónde estamos?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Protagonista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la audiencia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Desequilibrio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el problema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Equilibrio deseado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la meta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Solución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la hipótesis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05156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7307" y="118872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2 · Nudo</a:t>
            </a:r>
            <a:r>
              <a:rPr sz="1050">
                <a:solidFill>
                  <a:srgbClr val="586071"/>
                </a:solidFill>
                <a:latin typeface="Segoe UI"/>
              </a:rPr>
              <a:t>  — tensión controlada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307" y="157276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Contexto histórico, comparativas, consecuencias de no actuar, descubrimiento clave, evidencias.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2606040"/>
            <a:ext cx="5478627" cy="1463040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 w="12700">
            <a:solidFill>
              <a:srgbClr val="B9C5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743200"/>
            <a:ext cx="520430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34507E"/>
                </a:solidFill>
                <a:latin typeface="Segoe UI"/>
              </a:rPr>
              <a:t>3 · Desenlace</a:t>
            </a:r>
            <a:r>
              <a:rPr sz="1050">
                <a:solidFill>
                  <a:srgbClr val="586071"/>
                </a:solidFill>
                <a:latin typeface="Segoe UI"/>
              </a:rPr>
              <a:t>  — el 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127248"/>
            <a:ext cx="520430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Recomendación, acción concreta, riesgo si no actúas vs. beneficio si actúas, enlace emocional breve.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Adapta la historia a quien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No cambia la verdad; cambia el énfasis y el nivel de detalle.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858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Audiencia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Qué quiere saber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Cómo presentarlo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Dirección / CEO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Impacto en el negocio y qué decisión se pide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Una slide: titular + 3 implicaciones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CFO / Financiero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ROI, costes y riesgos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Números con comparativas y rangos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Director de área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Qué deben hacer y cuándo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Plan de acción con responsables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Equipo técnico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Cómo funciona y qué hay detrás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Metodología y detalle del análisis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48056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Minto Pyramid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La lógica horizontal/vertical viene del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Minto Pyramid Principle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, referencia clásica de consultoría para estructurar argumentos.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Verificar y lograr aceptación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3 lógicas de verificación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78627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Horizontal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leyendo solo los títulos, ¿se entiende la historia?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Vertical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dentro del gráfico, ¿todo lo apoya?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Inversa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extrae titulares y compara con la historia inicial.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0147" y="1051560"/>
            <a:ext cx="547862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Lograr aceptación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147" y="1920240"/>
            <a:ext cx="5478627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1.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Verbaliza los beneficios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2.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Antes / después (dopamina + mejora)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3.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Ofrece 3 opciones (elige la tuya)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4.  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Consigue el apoyo de un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influencer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de la audiencia antes de la reunión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196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EA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34507E"/>
                </a:solidFill>
                <a:latin typeface="Consolas"/>
              </a:rPr>
              <a:t>▶ En Power BI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3 actos = navegación: página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Resumen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→ páginas de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Análisis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→ panel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Recomendación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. Marcadores + botones conducen el recorrido; «antes/después» con dos marcadores sobre el mismo visual.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Bing, Bang, Bongo — la repetición que fija el mensaje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86071"/>
                </a:solidFill>
                <a:latin typeface="Segoe UI"/>
              </a:rPr>
              <a:t>Nadie recuerda lo que oye una sola vez. La estructura más antigua de la persuasión es también la más simple.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Bing.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Anticipa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— di de qué vas a hablar. «Hoy vais a ver por qué el abandono nos cuesta 2,4 M€.»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Bang.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Cuéntalo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— el cuerpo de la historia, con datos y estructura en 3 actos.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Bongo.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Resume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— di lo que acabas de contar. «Hemos visto que el onboarding reduce el riesgo 4×.»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Dónde encaja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En una presentación en vivo: portada → desarrollo → cierre. En un informe de Power BI: página de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resumen ejecutivo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al principio y al final, idéntica salvo por un titular que ya recoge la conclusión.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Revelado paso a paso: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en vez de mostrar todo el análisis de golpe, encadena marcadores que van iluminando una serie o categoría a la vez (el resto en gris) — la misma técnica que usa el periodismo de datos para guiar a audiencias con menos experiencia leyendo gráficos.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Juntar todas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las piezas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El resumen operativo de todo el deck. Sigue estos seis pasos, en orden, en cada proyecto.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El proceso en 6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1.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Contexto.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Audiencia, qué, cómo y la gran idea.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2.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Elegir el visual.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Tendencia→líneas, comparación→columnas, proporción→apiladas, distribución→histograma.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3.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Eliminar el caos.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Bordes, grid, markers, saturación, labels redundantes.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4.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Dirigir la atención.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Color, posición, forma, grosor.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5.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Pensar como diseñador.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Alineación, espacio, títulos simples, texto útil.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4A628E"/>
                </a:solidFill>
                <a:latin typeface="Segoe UI"/>
              </a:rPr>
              <a:t>6.  </a:t>
            </a:r>
            <a:r>
              <a:rPr sz="1400" b="1" i="0">
                <a:solidFill>
                  <a:srgbClr val="1D2638"/>
                </a:solidFill>
                <a:latin typeface="Segoe UI"/>
              </a:rPr>
              <a:t>Contar una historia.</a:t>
            </a:r>
            <a:r>
              <a:rPr sz="1400" b="0" i="0">
                <a:solidFill>
                  <a:srgbClr val="1D2638"/>
                </a:solidFill>
                <a:latin typeface="Segoe UI"/>
              </a:rPr>
              <a:t> Planteamiento → nudo → desenlace.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4507E"/>
                </a:solidFill>
                <a:latin typeface="Segoe UI"/>
              </a:rPr>
              <a:t>La prueba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8585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Si lees los títulos de tus gráficos y entiendes la historia completa, has terminado.</a:t>
            </a:r>
          </a:p>
          <a:p>
            <a:r>
              <a:rPr sz="1300" b="0" i="0">
                <a:solidFill>
                  <a:srgbClr val="1D2638"/>
                </a:solidFill>
                <a:latin typeface="Segoe UI"/>
              </a:rPr>
              <a:t>Si no, todavía 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86071"/>
                </a:solidFill>
                <a:latin typeface="Segoe UI"/>
              </a:rPr>
              <a:t>— La lógica horizontal, tu criterio final.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Parte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Galería: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así se hace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Diez arreglos que aparecen en casi todos los proyectos, con el antes y el después. Y dos dashboards bien construidos.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Los 10 arreglos más comunes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Cada uno es un patrón real que rompe la lectura, con su versión corregida. Salta a cualquiera con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I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858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01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Tarta con muchas porciones → barras ordenadas</a:t>
                      </a:r>
                    </a:p>
                  </a:txBody>
                  <a:tcPr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02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Eje truncado → base 0</a:t>
                      </a:r>
                    </a:p>
                  </a:txBody>
                  <a:tcPr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03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Barras 3D y efectos → planas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04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Líneas espagueti → destacar 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05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Doble eje Y → indexar a base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06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Leyenda aparte → etiqueta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07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Arcoíris de colores → gris + 1 énfasis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08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Tabla densa → barras de 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09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KPI suelto → KPI con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34507E"/>
                          </a:solidFill>
                          <a:latin typeface="Segoe UI"/>
                        </a:rPr>
                        <a:t>10</a:t>
                      </a:r>
                    </a:p>
                    <a:p>
                      <a:r>
                        <a:rPr b="1" sz="1050">
                          <a:solidFill>
                            <a:srgbClr val="1D2638"/>
                          </a:solidFill>
                          <a:latin typeface="Segoe UI"/>
                        </a:rPr>
                        <a:t>Orden alfabético → orden por valor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931920"/>
            <a:ext cx="11185855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Alberto Cairo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En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How Charts Lie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(2019), Cairo insiste en que estos diez arreglos casi nunca son trucos deliberados: son fallos de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graficacia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(alfabetización visual), tanto de quien los hace como de quien los lee sin cuidado. Las gráficas no mienten — quien las construye o interpreta a la ligera, sí.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01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La tarta con demasiadas porciones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87_ca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8" y="1417320"/>
            <a:ext cx="2558291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87_cap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85" y="1417320"/>
            <a:ext cx="2558291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ojo no compara ángulos con precisión.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Barras ordenadas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se leen al instante y dejan destacar la porción que importa.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02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El eje truncado que exagera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88_ca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0" y="1417320"/>
            <a:ext cx="2726827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88_cap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17" y="1417320"/>
            <a:ext cx="272682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Empezar el eje por encima de 0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infla diferencias mínimas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En barras, la base siempre es 0: la altura debe ser proporcional al dato.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03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Barras 3D y efectos decorativos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89_ca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8" y="1417320"/>
            <a:ext cx="2558291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89_cap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85" y="1417320"/>
            <a:ext cx="2558291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3D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distorsiona la altura real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y añade tinta sin dato (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chartjunk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). Barras planas: la longitud dice la verdad.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04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El gráfico de líneas espagueti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0_ca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8" y="1417320"/>
            <a:ext cx="2558291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0_cap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85" y="1417320"/>
            <a:ext cx="2558291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Seis líneas de colores obligan a rastrear cada una.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Gris para el coro, color para la protagonista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: la historia aparece sola.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04b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Alternativa: pequeños múltiplos</a:t>
            </a:r>
          </a:p>
        </p:txBody>
      </p:sp>
      <p:pic>
        <p:nvPicPr>
          <p:cNvPr id="4" name="Picture 3" descr="slide091_ca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78625" cy="26132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0147" y="1051560"/>
            <a:ext cx="5478627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Separa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cada serie en su propio panel pequeño, misma escala en todos.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El ojo compara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formas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, no colores entrelazados — funciona incluso con 10+ series.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Combínalo con la técnica anterior: gris de fondo,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color solo en el panel protagonista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93366"/>
            <a:ext cx="11185855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Ampliación · Tufte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Son los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small multiples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de Edward Tufte (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Envisioning Information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, 1990): «una serie de gráficos, misma escala, en la misma página, para que el ojo compare» — el mismo principio que sus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sparklines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más diminutos (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Beautiful Evidence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, 2006), pensados para leerse en línea con el texto.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05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El doble eje Y que engaña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2_ca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73" y="1417320"/>
            <a:ext cx="3086581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2_cap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740" y="1417320"/>
            <a:ext cx="3086581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Dos escalas dejan cruzar las líneas donde tú quieras: correlación falsa.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Indexa ambas a 100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y compáralas en un solo eje.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00600"/>
            <a:ext cx="11185855" cy="1335024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＋ Otras 2 salidas · Knaflic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Si indexar no encaja: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etiqueta cada punto directamente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con su valor real (sin ejes), o </a:t>
            </a:r>
            <a:r>
              <a:rPr sz="1200" b="1" i="0">
                <a:solidFill>
                  <a:srgbClr val="1D2638"/>
                </a:solidFill>
                <a:latin typeface="Segoe UI"/>
              </a:rPr>
              <a:t>separa las dos series en gráficos apilados verticalmente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compartiendo el eje horizontal — mismo mensaje, cero cruce inventado.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06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La leyenda que obliga a mirar fuera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3_cap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8" y="1417320"/>
            <a:ext cx="2558291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3_cap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85" y="1417320"/>
            <a:ext cx="2558291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Ir del gráfico a la leyenda y volver cuesta atención.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Etiqueta cada serie al final de su línea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: cero saltos de ojo.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07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El arcoíris de colores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4_cap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0" y="1417320"/>
            <a:ext cx="2726827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4_cap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17" y="1417320"/>
            <a:ext cx="272682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Un color por barra hace que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el color deje de significar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. Todo en gris y solo la barra clave en color: el énfasis recupera sentido.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08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La tabla densa de solo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5_cap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0" y="1417320"/>
            <a:ext cx="2726827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5_cap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17" y="1417320"/>
            <a:ext cx="272682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Una rejilla de cifras obliga a leer fila por fila.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Barras de datos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(formato condicional) dan la forma de un vistazo sin perder el número exacto.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09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El KPI sin 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6_cap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250" y="1417320"/>
            <a:ext cx="2726827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6_cap-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617" y="1417320"/>
            <a:ext cx="2726827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Un número solo no dice si es bueno o malo.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Añade una comparación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(vs. periodo/objetivo) y un sparkline: el dato ya tiene juicio.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10</a:t>
            </a:r>
            <a:r>
              <a:rPr sz="2400" b="1" i="0">
                <a:solidFill>
                  <a:srgbClr val="1D2638"/>
                </a:solidFill>
                <a:latin typeface="Segoe UI"/>
              </a:rPr>
              <a:t> · El orden alfabético en un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01487" cy="320040"/>
          </a:xfrm>
          <a:prstGeom prst="rect">
            <a:avLst/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7A1A2E"/>
                </a:solidFill>
                <a:latin typeface="Segoe UI"/>
              </a:rPr>
              <a:t>✕ Así no</a:t>
            </a:r>
          </a:p>
        </p:txBody>
      </p:sp>
      <p:pic>
        <p:nvPicPr>
          <p:cNvPr id="5" name="Picture 4" descr="slide097_cap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518" y="1417320"/>
            <a:ext cx="2558291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7287" y="1051560"/>
            <a:ext cx="5501487" cy="320040"/>
          </a:xfrm>
          <a:prstGeom prst="rect">
            <a:avLst/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A6626"/>
                </a:solidFill>
                <a:latin typeface="Segoe UI"/>
              </a:rPr>
              <a:t>✓ Así sí</a:t>
            </a:r>
          </a:p>
        </p:txBody>
      </p:sp>
      <p:pic>
        <p:nvPicPr>
          <p:cNvPr id="7" name="Picture 6" descr="slide097_cap-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885" y="1417320"/>
            <a:ext cx="2558291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El orden alfabético esconde el ranking.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Ordena por valor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: la comparación es el mensaje, y el líder queda arriba.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Un dashboard bien construido · ventas</a:t>
            </a:r>
          </a:p>
        </p:txBody>
      </p:sp>
      <p:pic>
        <p:nvPicPr>
          <p:cNvPr id="4" name="Picture 3" descr="slide098_cap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97" y="1051560"/>
            <a:ext cx="7697502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4348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Qué lo hace correcto: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titular que orienta arriba, KPIs con variación (no números huérfanos), un visual protagonista y el resto en gris, jerarquía en Z y un solo color de énfasis.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Un dashboard bien construido · ejecutivo</a:t>
            </a:r>
          </a:p>
        </p:txBody>
      </p:sp>
      <p:pic>
        <p:nvPicPr>
          <p:cNvPr id="4" name="Picture 3" descr="slide099_cap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097" y="1051560"/>
            <a:ext cx="7697502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434840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D2638"/>
                </a:solidFill>
                <a:latin typeface="Segoe UI"/>
              </a:rPr>
              <a:t>Qué lo hace correcto: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una sola pantalla responde una pregunta, la anotación señala el punto de inflexión (día 14) y cada cifra lleva su contexto. La vista lleva de la métrica al porqué y a la acción.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B9C5D6"/>
                </a:solidFill>
                <a:latin typeface="Segoe UI"/>
              </a:rPr>
              <a:t>Apéndices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0" b="1">
                <a:solidFill>
                  <a:srgbClr val="8BA6D4"/>
                </a:solidFill>
                <a:latin typeface="Segoe U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0"/>
            <a:ext cx="111858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Segoe UI"/>
              </a:rPr>
              <a:t>Checklist rápido</a:t>
            </a:r>
          </a:p>
          <a:p>
            <a:r>
              <a:rPr sz="3200" b="1" i="0">
                <a:solidFill>
                  <a:srgbClr val="FFFFFF"/>
                </a:solidFill>
                <a:latin typeface="Segoe UI"/>
              </a:rPr>
              <a:t>y fuentes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8C2B8"/>
                </a:solidFill>
                <a:latin typeface="Segoe UI"/>
              </a:rPr>
              <a:t>Lo que repasas antes de dar por terminado cualquier gráfico.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1005840" cy="41148"/>
          </a:xfrm>
          <a:prstGeom prst="rect">
            <a:avLst/>
          </a:prstGeom>
          <a:solidFill>
            <a:srgbClr val="8BA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Checklist pre-publicación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57621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Percepción y 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357621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Idea en 30 segundos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¿Puedo quitar algo?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≤ 3 colores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Lo secundario en gris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Base 0 en barras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1051560"/>
            <a:ext cx="357621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Historia y 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738" y="1920240"/>
            <a:ext cx="357621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Título que orienta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Solo ~10 % destacado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Anotación en el punto clave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Unidades claras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Lógica horizontal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556" y="1051560"/>
            <a:ext cx="357621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D2638"/>
                </a:solidFill>
                <a:latin typeface="Segoe UI"/>
              </a:rPr>
              <a:t>Composición y acceso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1920240"/>
            <a:ext cx="357621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Alineado a un grid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≤ 2 tipografías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Espacio suficiente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Test escala de grises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A6626"/>
                </a:solidFill>
                <a:latin typeface="Segoe UI"/>
              </a:rPr>
              <a:t>✓  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Texto/color 4,5:1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Contraste WCAG 2.2 (AA)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1858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5592928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Elemento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Ratio mínimo</a:t>
                      </a:r>
                    </a:p>
                  </a:txBody>
                  <a:tcPr>
                    <a:solidFill>
                      <a:srgbClr val="34507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Texto normal (&lt; 24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4,5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Texto grande / componentes UI y gráficos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D2638"/>
                          </a:solidFill>
                          <a:latin typeface="Segoe UI"/>
                        </a:rPr>
                        <a:t>3 : 1</a:t>
                      </a:r>
                    </a:p>
                  </a:txBody>
                  <a:tcPr>
                    <a:solidFill>
                      <a:srgbClr val="FBFB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Nivel AAA (texto 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D2638"/>
                          </a:solidFill>
                          <a:latin typeface="Segoe UI"/>
                        </a:rPr>
                        <a:t>7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15468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FB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7A1A2E"/>
                </a:solidFill>
                <a:latin typeface="Segoe UI"/>
              </a:rPr>
              <a:t>✕ Texto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Pale Slate </a:t>
            </a:r>
            <a:r>
              <a:rPr sz="1250" b="0" i="0">
                <a:solidFill>
                  <a:srgbClr val="1D2638"/>
                </a:solidFill>
                <a:latin typeface="Consolas"/>
              </a:rPr>
              <a:t>#B9C5D6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 sobre blanco ≈ 1,7:1 — vale para bordes y fondos, nunca para texto.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3154680"/>
            <a:ext cx="5501487" cy="1554480"/>
          </a:xfrm>
          <a:prstGeom prst="roundRect">
            <a:avLst>
              <a:gd name="adj" fmla="val 6000"/>
            </a:avLst>
          </a:prstGeom>
          <a:solidFill>
            <a:srgbClr val="EE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/>
            <a:r>
              <a:rPr b="1" sz="1200">
                <a:solidFill>
                  <a:srgbClr val="2A6626"/>
                </a:solidFill>
                <a:latin typeface="Segoe UI"/>
              </a:rPr>
              <a:t>✓ Texto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1D2638"/>
                </a:solidFill>
                <a:latin typeface="Segoe UI"/>
              </a:rPr>
              <a:t>Baltic </a:t>
            </a:r>
            <a:r>
              <a:rPr sz="1250" b="0" i="0">
                <a:solidFill>
                  <a:srgbClr val="1D2638"/>
                </a:solidFill>
                <a:latin typeface="Consolas"/>
              </a:rPr>
              <a:t>#4A628E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 (5,9:1) o </a:t>
            </a:r>
            <a:r>
              <a:rPr sz="1250" b="0" i="0">
                <a:solidFill>
                  <a:srgbClr val="1D2638"/>
                </a:solidFill>
                <a:latin typeface="Consolas"/>
              </a:rPr>
              <a:t>#34507e</a:t>
            </a:r>
            <a:r>
              <a:rPr sz="1250" b="0" i="0">
                <a:solidFill>
                  <a:srgbClr val="1D2638"/>
                </a:solidFill>
                <a:latin typeface="Segoe UI"/>
              </a:rPr>
              <a:t> (7,8:1). Sobre azul sólido, texto en blanco.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858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D2638"/>
                </a:solidFill>
                <a:latin typeface="Segoe UI"/>
              </a:rPr>
              <a:t>Bibliografía de cabecera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57621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Knaflic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Storytelling with Data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Tufte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Visual Display of Quant. Info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·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Envisioning Information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Cairo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The Truthful/Functional Art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·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How Charts Lie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Few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Information Dashboard Design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Ware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Perception for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051560"/>
            <a:ext cx="357621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FT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Visual Vocabulary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·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WCAG 2.2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Cleveland &amp; McGill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(1984) ·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Minto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Pyramid Principle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Franconeri, Padilla, Shah, Zacks &amp; Hullman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(2021)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Cowan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(2001)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The Magical Number 4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Munzner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Visualization Analysis 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12556" y="1051560"/>
            <a:ext cx="3576218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Dykes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Effective Data Storytelling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Duarte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DataStory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Wexler, Shaffer &amp; Cotgreave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</a:t>
            </a:r>
            <a:r>
              <a:rPr sz="1300" b="0" i="1">
                <a:solidFill>
                  <a:srgbClr val="1D2638"/>
                </a:solidFill>
                <a:latin typeface="Segoe UI"/>
              </a:rPr>
              <a:t>The Big Book of Dashboards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A628E"/>
                </a:solidFill>
                <a:latin typeface="Segoe UI"/>
              </a:rPr>
              <a:t>—  </a:t>
            </a:r>
            <a:r>
              <a:rPr sz="1300" b="1" i="0">
                <a:solidFill>
                  <a:srgbClr val="1D2638"/>
                </a:solidFill>
                <a:latin typeface="Segoe UI"/>
              </a:rPr>
              <a:t>IBCS</a:t>
            </a:r>
            <a:r>
              <a:rPr sz="1300" b="0" i="0">
                <a:solidFill>
                  <a:srgbClr val="1D2638"/>
                </a:solidFill>
                <a:latin typeface="Segoe UI"/>
              </a:rPr>
              <a:t> — International Business Communication Standards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11185855" cy="1042416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/>
            <a:r>
              <a:rPr b="1" sz="1100">
                <a:solidFill>
                  <a:srgbClr val="4B5563"/>
                </a:solidFill>
                <a:latin typeface="Consolas"/>
              </a:rPr>
              <a:t>■ Nota</a:t>
            </a:r>
          </a:p>
          <a:p>
            <a:pPr>
              <a:spcBef>
                <a:spcPts val="500"/>
              </a:spcBef>
            </a:pPr>
            <a:r>
              <a:rPr sz="1200" b="0" i="0">
                <a:solidFill>
                  <a:srgbClr val="1D2638"/>
                </a:solidFill>
                <a:latin typeface="Segoe UI"/>
              </a:rPr>
              <a:t>Cuerpo = conocimiento propio de Borja, ordenado, sin alterar. Recuadros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Ampliación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= respaldo de las fuentes. Recuadros </a:t>
            </a:r>
            <a:r>
              <a:rPr sz="1200" b="0" i="1">
                <a:solidFill>
                  <a:srgbClr val="1D2638"/>
                </a:solidFill>
                <a:latin typeface="Segoe UI"/>
              </a:rPr>
              <a:t>En Power BI</a:t>
            </a:r>
            <a:r>
              <a:rPr sz="1200" b="0" i="0">
                <a:solidFill>
                  <a:srgbClr val="1D2638"/>
                </a:solidFill>
                <a:latin typeface="Segoe UI"/>
              </a:rPr>
              <a:t> = aplicación práctica.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